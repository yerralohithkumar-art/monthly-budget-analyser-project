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61" r:id="rId4"/>
    <p:sldId id="258" r:id="rId5"/>
    <p:sldId id="259" r:id="rId6"/>
    <p:sldId id="260" r:id="rId7"/>
    <p:sldId id="263" r:id="rId8"/>
    <p:sldId id="264" r:id="rId9"/>
    <p:sldId id="265" r:id="rId10"/>
    <p:sldId id="266" r:id="rId11"/>
    <p:sldId id="267" r:id="rId12"/>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80BE3C-B0B0-4CFB-816B-712D973A64E0}" v="3" dt="2026-09-15T10:05:24.2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6/11/relationships/changesInfo" Target="changesInfos/changesInfo1.xml"/><Relationship Id="rId2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SP MADHURI" userId="d5baabbced009fe2" providerId="LiveId" clId="{5C1935DC-7BAA-4BFD-8AE9-FAF66D151093}"/>
    <pc:docChg chg="undo custSel addSld modSld sldOrd">
      <pc:chgData name="TSP MADHURI" userId="d5baabbced009fe2" providerId="LiveId" clId="{5C1935DC-7BAA-4BFD-8AE9-FAF66D151093}" dt="2026-09-15T10:01:58.231" v="188" actId="22"/>
      <pc:docMkLst>
        <pc:docMk/>
      </pc:docMkLst>
      <pc:sldChg chg="addSp delSp modSp mod">
        <pc:chgData name="TSP MADHURI" userId="d5baabbced009fe2" providerId="LiveId" clId="{5C1935DC-7BAA-4BFD-8AE9-FAF66D151093}" dt="2026-09-15T10:01:58.231" v="188" actId="22"/>
        <pc:sldMkLst>
          <pc:docMk/>
          <pc:sldMk cId="1570750093" sldId="256"/>
        </pc:sldMkLst>
        <pc:spChg chg="mod">
          <ac:chgData name="TSP MADHURI" userId="d5baabbced009fe2" providerId="LiveId" clId="{5C1935DC-7BAA-4BFD-8AE9-FAF66D151093}" dt="2026-09-15T09:58:58.254" v="62" actId="20577"/>
          <ac:spMkLst>
            <pc:docMk/>
            <pc:sldMk cId="1570750093" sldId="256"/>
            <ac:spMk id="2" creationId="{81C0CCFF-527E-4AC9-A45F-A8196F49E0C3}"/>
          </ac:spMkLst>
        </pc:spChg>
        <pc:spChg chg="mod">
          <ac:chgData name="TSP MADHURI" userId="d5baabbced009fe2" providerId="LiveId" clId="{5C1935DC-7BAA-4BFD-8AE9-FAF66D151093}" dt="2026-09-15T09:59:08.667" v="65"/>
          <ac:spMkLst>
            <pc:docMk/>
            <pc:sldMk cId="1570750093" sldId="256"/>
            <ac:spMk id="3" creationId="{A452AC95-AA7D-A76A-037F-6B2DB5A27E48}"/>
          </ac:spMkLst>
        </pc:spChg>
        <pc:spChg chg="add del">
          <ac:chgData name="TSP MADHURI" userId="d5baabbced009fe2" providerId="LiveId" clId="{5C1935DC-7BAA-4BFD-8AE9-FAF66D151093}" dt="2026-09-15T09:58:23.995" v="1" actId="22"/>
          <ac:spMkLst>
            <pc:docMk/>
            <pc:sldMk cId="1570750093" sldId="256"/>
            <ac:spMk id="5" creationId="{16E58A68-9A46-73D5-6ACA-6EBDA713DE38}"/>
          </ac:spMkLst>
        </pc:spChg>
        <pc:spChg chg="add del mod">
          <ac:chgData name="TSP MADHURI" userId="d5baabbced009fe2" providerId="LiveId" clId="{5C1935DC-7BAA-4BFD-8AE9-FAF66D151093}" dt="2026-09-15T10:01:58.231" v="188" actId="22"/>
          <ac:spMkLst>
            <pc:docMk/>
            <pc:sldMk cId="1570750093" sldId="256"/>
            <ac:spMk id="7" creationId="{195ACB3F-808A-0A7A-B8BD-A70C42ECC1E5}"/>
          </ac:spMkLst>
        </pc:spChg>
      </pc:sldChg>
      <pc:sldChg chg="modSp new mod">
        <pc:chgData name="TSP MADHURI" userId="d5baabbced009fe2" providerId="LiveId" clId="{5C1935DC-7BAA-4BFD-8AE9-FAF66D151093}" dt="2026-09-15T09:59:16.247" v="74" actId="20577"/>
        <pc:sldMkLst>
          <pc:docMk/>
          <pc:sldMk cId="676338040" sldId="257"/>
        </pc:sldMkLst>
        <pc:spChg chg="mod">
          <ac:chgData name="TSP MADHURI" userId="d5baabbced009fe2" providerId="LiveId" clId="{5C1935DC-7BAA-4BFD-8AE9-FAF66D151093}" dt="2026-09-15T09:59:16.247" v="74" actId="20577"/>
          <ac:spMkLst>
            <pc:docMk/>
            <pc:sldMk cId="676338040" sldId="257"/>
            <ac:spMk id="2" creationId="{EDE71AF3-F02C-0F4C-0929-57F8B753540D}"/>
          </ac:spMkLst>
        </pc:spChg>
      </pc:sldChg>
      <pc:sldChg chg="modSp new mod">
        <pc:chgData name="TSP MADHURI" userId="d5baabbced009fe2" providerId="LiveId" clId="{5C1935DC-7BAA-4BFD-8AE9-FAF66D151093}" dt="2026-09-15T09:59:25.529" v="86" actId="20577"/>
        <pc:sldMkLst>
          <pc:docMk/>
          <pc:sldMk cId="4104242747" sldId="258"/>
        </pc:sldMkLst>
        <pc:spChg chg="mod">
          <ac:chgData name="TSP MADHURI" userId="d5baabbced009fe2" providerId="LiveId" clId="{5C1935DC-7BAA-4BFD-8AE9-FAF66D151093}" dt="2026-09-15T09:59:25.529" v="86" actId="20577"/>
          <ac:spMkLst>
            <pc:docMk/>
            <pc:sldMk cId="4104242747" sldId="258"/>
            <ac:spMk id="2" creationId="{8E154CC5-4FD5-611A-4481-E878E281E2CD}"/>
          </ac:spMkLst>
        </pc:spChg>
      </pc:sldChg>
      <pc:sldChg chg="modSp new mod">
        <pc:chgData name="TSP MADHURI" userId="d5baabbced009fe2" providerId="LiveId" clId="{5C1935DC-7BAA-4BFD-8AE9-FAF66D151093}" dt="2026-09-15T09:59:36.234" v="101" actId="20577"/>
        <pc:sldMkLst>
          <pc:docMk/>
          <pc:sldMk cId="4178111765" sldId="259"/>
        </pc:sldMkLst>
        <pc:spChg chg="mod">
          <ac:chgData name="TSP MADHURI" userId="d5baabbced009fe2" providerId="LiveId" clId="{5C1935DC-7BAA-4BFD-8AE9-FAF66D151093}" dt="2026-09-15T09:59:36.234" v="101" actId="20577"/>
          <ac:spMkLst>
            <pc:docMk/>
            <pc:sldMk cId="4178111765" sldId="259"/>
            <ac:spMk id="2" creationId="{3954FDF4-A21D-11D6-CA7A-382058E2F499}"/>
          </ac:spMkLst>
        </pc:spChg>
      </pc:sldChg>
      <pc:sldChg chg="modSp new mod">
        <pc:chgData name="TSP MADHURI" userId="d5baabbced009fe2" providerId="LiveId" clId="{5C1935DC-7BAA-4BFD-8AE9-FAF66D151093}" dt="2026-09-15T09:59:46.562" v="113" actId="20577"/>
        <pc:sldMkLst>
          <pc:docMk/>
          <pc:sldMk cId="1869875426" sldId="260"/>
        </pc:sldMkLst>
        <pc:spChg chg="mod">
          <ac:chgData name="TSP MADHURI" userId="d5baabbced009fe2" providerId="LiveId" clId="{5C1935DC-7BAA-4BFD-8AE9-FAF66D151093}" dt="2026-09-15T09:59:46.562" v="113" actId="20577"/>
          <ac:spMkLst>
            <pc:docMk/>
            <pc:sldMk cId="1869875426" sldId="260"/>
            <ac:spMk id="2" creationId="{C73BDDFB-DFEC-7A21-D889-17965A225820}"/>
          </ac:spMkLst>
        </pc:spChg>
      </pc:sldChg>
      <pc:sldChg chg="modSp new mod ord">
        <pc:chgData name="TSP MADHURI" userId="d5baabbced009fe2" providerId="LiveId" clId="{5C1935DC-7BAA-4BFD-8AE9-FAF66D151093}" dt="2026-09-15T10:00:14.865" v="149"/>
        <pc:sldMkLst>
          <pc:docMk/>
          <pc:sldMk cId="3980090555" sldId="261"/>
        </pc:sldMkLst>
        <pc:spChg chg="mod">
          <ac:chgData name="TSP MADHURI" userId="d5baabbced009fe2" providerId="LiveId" clId="{5C1935DC-7BAA-4BFD-8AE9-FAF66D151093}" dt="2026-09-15T10:00:08.859" v="147" actId="20577"/>
          <ac:spMkLst>
            <pc:docMk/>
            <pc:sldMk cId="3980090555" sldId="261"/>
            <ac:spMk id="2" creationId="{54D4AC2B-1702-695F-E0B5-9F6550F04B7D}"/>
          </ac:spMkLst>
        </pc:spChg>
      </pc:sldChg>
      <pc:sldChg chg="modSp new mod">
        <pc:chgData name="TSP MADHURI" userId="d5baabbced009fe2" providerId="LiveId" clId="{5C1935DC-7BAA-4BFD-8AE9-FAF66D151093}" dt="2026-09-15T10:00:56.631" v="184" actId="20577"/>
        <pc:sldMkLst>
          <pc:docMk/>
          <pc:sldMk cId="1396777043" sldId="262"/>
        </pc:sldMkLst>
        <pc:spChg chg="mod">
          <ac:chgData name="TSP MADHURI" userId="d5baabbced009fe2" providerId="LiveId" clId="{5C1935DC-7BAA-4BFD-8AE9-FAF66D151093}" dt="2026-09-15T10:00:56.631" v="184" actId="20577"/>
          <ac:spMkLst>
            <pc:docMk/>
            <pc:sldMk cId="1396777043" sldId="262"/>
            <ac:spMk id="2" creationId="{BDCEF2EB-DC8E-A39F-8C45-4CB81854799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AFC0-00B8-4117-895C-3E834B171036}" type="datetimeFigureOut">
              <a:rPr lang="en-IN" smtClean="0"/>
              <a:t>15-10-2026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476CA-421D-4B57-8942-5762D93F1AB2}" type="slidenum">
              <a:rPr lang="en-IN" smtClean="0"/>
              <a:t>‹#›</a:t>
            </a:fld>
            <a:endParaRPr lang="en-IN"/>
          </a:p>
        </p:txBody>
      </p:sp>
    </p:spTree>
    <p:extLst>
      <p:ext uri="{BB962C8B-B14F-4D97-AF65-F5344CB8AC3E}">
        <p14:creationId xmlns:p14="http://schemas.microsoft.com/office/powerpoint/2010/main" val="3994164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5F3B8-DDEB-3931-BD30-FCDF92768B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0E52B7-3612-C42C-E3C4-1568700EDD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E2A539-9977-5E0E-CDC1-067BB186F683}"/>
              </a:ext>
            </a:extLst>
          </p:cNvPr>
          <p:cNvSpPr>
            <a:spLocks noGrp="1"/>
          </p:cNvSpPr>
          <p:nvPr>
            <p:ph type="dt" sz="half" idx="10"/>
          </p:nvPr>
        </p:nvSpPr>
        <p:spPr/>
        <p:txBody>
          <a:bodyPr/>
          <a:lstStyle/>
          <a:p>
            <a:fld id="{16F549C3-E12B-4CC2-9FA1-D4C0643B7241}" type="datetime1">
              <a:rPr lang="en-IN" smtClean="0"/>
              <a:t>15-10-2026</a:t>
            </a:fld>
            <a:endParaRPr lang="en-IN"/>
          </a:p>
        </p:txBody>
      </p:sp>
      <p:sp>
        <p:nvSpPr>
          <p:cNvPr id="5" name="Footer Placeholder 4">
            <a:extLst>
              <a:ext uri="{FF2B5EF4-FFF2-40B4-BE49-F238E27FC236}">
                <a16:creationId xmlns:a16="http://schemas.microsoft.com/office/drawing/2014/main" id="{8DC91C38-BEF3-AA2E-ACFE-DCF1543BE0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1CB7FA-8196-F586-E960-B5BAE429FE2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EEB3F1FD-0147-797C-0ED6-E694A2BD62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05559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259C4-DC4A-CF70-25D2-F39535A1F7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A6C27E-0A06-D409-8884-852E74A294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7AC31F-7BFD-CA38-00A7-A2FD01A09849}"/>
              </a:ext>
            </a:extLst>
          </p:cNvPr>
          <p:cNvSpPr>
            <a:spLocks noGrp="1"/>
          </p:cNvSpPr>
          <p:nvPr>
            <p:ph type="dt" sz="half" idx="10"/>
          </p:nvPr>
        </p:nvSpPr>
        <p:spPr/>
        <p:txBody>
          <a:bodyPr/>
          <a:lstStyle/>
          <a:p>
            <a:fld id="{07DE2E10-B9C9-4696-8C2C-567691D9BBFD}" type="datetime1">
              <a:rPr lang="en-IN" smtClean="0"/>
              <a:t>15-10-2026</a:t>
            </a:fld>
            <a:endParaRPr lang="en-IN"/>
          </a:p>
        </p:txBody>
      </p:sp>
      <p:sp>
        <p:nvSpPr>
          <p:cNvPr id="5" name="Footer Placeholder 4">
            <a:extLst>
              <a:ext uri="{FF2B5EF4-FFF2-40B4-BE49-F238E27FC236}">
                <a16:creationId xmlns:a16="http://schemas.microsoft.com/office/drawing/2014/main" id="{8E415AD4-5B3F-78FD-DE66-C3F50AC63A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80549F-8592-A2F0-A7A6-A1C45E9E6C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5381CCB4-DDFA-058A-AE03-5A3CFCA9F8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76215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EAB08-E23E-771E-1FDE-DC7851594F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036FC1-1DB6-A8A4-C315-834C3FFCFE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565D3F-93C4-BE6A-B0D8-5AFF3E69AF83}"/>
              </a:ext>
            </a:extLst>
          </p:cNvPr>
          <p:cNvSpPr>
            <a:spLocks noGrp="1"/>
          </p:cNvSpPr>
          <p:nvPr>
            <p:ph type="dt" sz="half" idx="10"/>
          </p:nvPr>
        </p:nvSpPr>
        <p:spPr/>
        <p:txBody>
          <a:bodyPr/>
          <a:lstStyle/>
          <a:p>
            <a:fld id="{6E4BF378-8F16-492D-87B3-963C20ACF441}" type="datetime1">
              <a:rPr lang="en-IN" smtClean="0"/>
              <a:t>15-10-2026</a:t>
            </a:fld>
            <a:endParaRPr lang="en-IN"/>
          </a:p>
        </p:txBody>
      </p:sp>
      <p:sp>
        <p:nvSpPr>
          <p:cNvPr id="5" name="Footer Placeholder 4">
            <a:extLst>
              <a:ext uri="{FF2B5EF4-FFF2-40B4-BE49-F238E27FC236}">
                <a16:creationId xmlns:a16="http://schemas.microsoft.com/office/drawing/2014/main" id="{7112169B-9903-41C3-CC1A-A773A925D6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ACC6B5-6988-9DF9-8223-C5EB677C938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2E3DABBD-F85F-360C-A546-D5E0B92597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854256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988FF-7E75-1B89-7C11-7B6C180BDE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8E0077-B676-7850-AAD4-77689FB5B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E4118E-9650-EED0-1592-D4AD00CF46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DD1BDD-D86C-6A53-CEF7-1AEC9AB1AA53}"/>
              </a:ext>
            </a:extLst>
          </p:cNvPr>
          <p:cNvSpPr>
            <a:spLocks noGrp="1"/>
          </p:cNvSpPr>
          <p:nvPr>
            <p:ph type="dt" sz="half" idx="10"/>
          </p:nvPr>
        </p:nvSpPr>
        <p:spPr/>
        <p:txBody>
          <a:bodyPr/>
          <a:lstStyle/>
          <a:p>
            <a:fld id="{2C79781E-9150-4561-9F7C-01394C55C5AE}" type="datetime1">
              <a:rPr lang="en-IN" smtClean="0"/>
              <a:t>15-10-2026</a:t>
            </a:fld>
            <a:endParaRPr lang="en-IN"/>
          </a:p>
        </p:txBody>
      </p:sp>
      <p:sp>
        <p:nvSpPr>
          <p:cNvPr id="6" name="Footer Placeholder 5">
            <a:extLst>
              <a:ext uri="{FF2B5EF4-FFF2-40B4-BE49-F238E27FC236}">
                <a16:creationId xmlns:a16="http://schemas.microsoft.com/office/drawing/2014/main" id="{30B15FF2-A4C5-135F-9FA1-A00A6BF9A0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2FB8AA-FC6D-B278-7FFF-C52EF4307992}"/>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D3064E1C-D746-419C-5FE6-033B95CAC3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993261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CC900-8F42-8A20-E378-434465ED27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DDB5D6-6D80-913C-77A3-83E1C27571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D7E712-FB4A-DBE7-7EE8-B34465C755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FC7C92-E667-0F30-6C26-267F10CBCB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31715A-AF86-785C-73F2-00FF9D5D32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01D6D5-269C-31AC-CC40-917E0E24679C}"/>
              </a:ext>
            </a:extLst>
          </p:cNvPr>
          <p:cNvSpPr>
            <a:spLocks noGrp="1"/>
          </p:cNvSpPr>
          <p:nvPr>
            <p:ph type="dt" sz="half" idx="10"/>
          </p:nvPr>
        </p:nvSpPr>
        <p:spPr/>
        <p:txBody>
          <a:bodyPr/>
          <a:lstStyle/>
          <a:p>
            <a:fld id="{CEF12896-961F-4F7A-B2DD-D0EFF57BA027}" type="datetime1">
              <a:rPr lang="en-IN" smtClean="0"/>
              <a:t>15-10-2026</a:t>
            </a:fld>
            <a:endParaRPr lang="en-IN"/>
          </a:p>
        </p:txBody>
      </p:sp>
      <p:sp>
        <p:nvSpPr>
          <p:cNvPr id="8" name="Footer Placeholder 7">
            <a:extLst>
              <a:ext uri="{FF2B5EF4-FFF2-40B4-BE49-F238E27FC236}">
                <a16:creationId xmlns:a16="http://schemas.microsoft.com/office/drawing/2014/main" id="{1D0DFF97-DB90-A3DC-1A5F-E041ABA4F51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DFEC1F-4C0D-B461-B76D-FAFE7A86BA16}"/>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11" name="Picture 10">
            <a:extLst>
              <a:ext uri="{FF2B5EF4-FFF2-40B4-BE49-F238E27FC236}">
                <a16:creationId xmlns:a16="http://schemas.microsoft.com/office/drawing/2014/main" id="{B0D765FD-6DB7-1155-27BC-BD0DB45299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460133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9FB57-0CBB-0AA3-9BF0-2ED23379724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B2CE64-C359-3445-7AB9-29DE8577C0B3}"/>
              </a:ext>
            </a:extLst>
          </p:cNvPr>
          <p:cNvSpPr>
            <a:spLocks noGrp="1"/>
          </p:cNvSpPr>
          <p:nvPr>
            <p:ph type="dt" sz="half" idx="10"/>
          </p:nvPr>
        </p:nvSpPr>
        <p:spPr/>
        <p:txBody>
          <a:bodyPr/>
          <a:lstStyle/>
          <a:p>
            <a:fld id="{48F51132-6BA4-40BC-AB03-D6B9C4F193FC}" type="datetime1">
              <a:rPr lang="en-IN" smtClean="0"/>
              <a:t>15-10-2026</a:t>
            </a:fld>
            <a:endParaRPr lang="en-IN"/>
          </a:p>
        </p:txBody>
      </p:sp>
      <p:sp>
        <p:nvSpPr>
          <p:cNvPr id="4" name="Footer Placeholder 3">
            <a:extLst>
              <a:ext uri="{FF2B5EF4-FFF2-40B4-BE49-F238E27FC236}">
                <a16:creationId xmlns:a16="http://schemas.microsoft.com/office/drawing/2014/main" id="{5C63F73F-0420-C605-3EFF-74CBBE1B75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6EE44D-529C-1AC9-123B-7EBF53FA6E5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7" name="Picture 6">
            <a:extLst>
              <a:ext uri="{FF2B5EF4-FFF2-40B4-BE49-F238E27FC236}">
                <a16:creationId xmlns:a16="http://schemas.microsoft.com/office/drawing/2014/main" id="{F4A6640D-01A3-9B0C-80EF-F10DE42207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463580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79728-5FED-202E-6651-A7474C32A850}"/>
              </a:ext>
            </a:extLst>
          </p:cNvPr>
          <p:cNvSpPr>
            <a:spLocks noGrp="1"/>
          </p:cNvSpPr>
          <p:nvPr>
            <p:ph type="dt" sz="half" idx="10"/>
          </p:nvPr>
        </p:nvSpPr>
        <p:spPr/>
        <p:txBody>
          <a:bodyPr/>
          <a:lstStyle/>
          <a:p>
            <a:fld id="{2FD85D5E-B9E5-4C7E-88B1-43A66A7C3488}" type="datetime1">
              <a:rPr lang="en-IN" smtClean="0"/>
              <a:t>15-10-2026</a:t>
            </a:fld>
            <a:endParaRPr lang="en-IN"/>
          </a:p>
        </p:txBody>
      </p:sp>
      <p:sp>
        <p:nvSpPr>
          <p:cNvPr id="3" name="Footer Placeholder 2">
            <a:extLst>
              <a:ext uri="{FF2B5EF4-FFF2-40B4-BE49-F238E27FC236}">
                <a16:creationId xmlns:a16="http://schemas.microsoft.com/office/drawing/2014/main" id="{C7F6D777-ECC4-1DAB-81FF-7D7AF3FF399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B56A1D-0096-D4B4-2B11-1CDFE3317B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6" name="Picture 5">
            <a:extLst>
              <a:ext uri="{FF2B5EF4-FFF2-40B4-BE49-F238E27FC236}">
                <a16:creationId xmlns:a16="http://schemas.microsoft.com/office/drawing/2014/main" id="{0260B416-1EF4-3CD6-8E26-DC636E7B37F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471129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E5010-2418-091A-429D-37E400ABA5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A991DC8-3F06-BF0E-8109-8C1FEDEAD6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3544A7E-4423-60E2-E6E9-AAF09976D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B3B07B-D8E2-C0AA-F7E4-545DF97910A6}"/>
              </a:ext>
            </a:extLst>
          </p:cNvPr>
          <p:cNvSpPr>
            <a:spLocks noGrp="1"/>
          </p:cNvSpPr>
          <p:nvPr>
            <p:ph type="dt" sz="half" idx="10"/>
          </p:nvPr>
        </p:nvSpPr>
        <p:spPr/>
        <p:txBody>
          <a:bodyPr/>
          <a:lstStyle/>
          <a:p>
            <a:fld id="{97DBE2A2-8283-469E-B4A1-D6877668ECFE}" type="datetime1">
              <a:rPr lang="en-IN" smtClean="0"/>
              <a:t>15-10-2026</a:t>
            </a:fld>
            <a:endParaRPr lang="en-IN"/>
          </a:p>
        </p:txBody>
      </p:sp>
      <p:sp>
        <p:nvSpPr>
          <p:cNvPr id="6" name="Footer Placeholder 5">
            <a:extLst>
              <a:ext uri="{FF2B5EF4-FFF2-40B4-BE49-F238E27FC236}">
                <a16:creationId xmlns:a16="http://schemas.microsoft.com/office/drawing/2014/main" id="{D8FB3DF0-CC05-0B05-24D9-6663B5E119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AB53E2-0205-A987-5D45-0DFC51D895E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AE6F4A6A-FE20-C82E-95DD-FA2A5FCB0B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93727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7E51-2E25-5BFC-2696-794A224B6A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3F9DC63-25C2-8B4F-3683-6B0A9BC756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4EBA80-D1E6-9786-229E-B9B70D9BDF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0DED29-F47E-2534-AFB4-003A8091ABF4}"/>
              </a:ext>
            </a:extLst>
          </p:cNvPr>
          <p:cNvSpPr>
            <a:spLocks noGrp="1"/>
          </p:cNvSpPr>
          <p:nvPr>
            <p:ph type="dt" sz="half" idx="10"/>
          </p:nvPr>
        </p:nvSpPr>
        <p:spPr/>
        <p:txBody>
          <a:bodyPr/>
          <a:lstStyle/>
          <a:p>
            <a:fld id="{FD50A723-EDD4-4822-84BE-4B7F697B4E56}" type="datetime1">
              <a:rPr lang="en-IN" smtClean="0"/>
              <a:t>15-10-2026</a:t>
            </a:fld>
            <a:endParaRPr lang="en-IN"/>
          </a:p>
        </p:txBody>
      </p:sp>
      <p:sp>
        <p:nvSpPr>
          <p:cNvPr id="6" name="Footer Placeholder 5">
            <a:extLst>
              <a:ext uri="{FF2B5EF4-FFF2-40B4-BE49-F238E27FC236}">
                <a16:creationId xmlns:a16="http://schemas.microsoft.com/office/drawing/2014/main" id="{06E6DE89-3F60-1B9B-0597-F389CAA72F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0B78F6-7EC0-BF15-5CA1-F0159D796384}"/>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28256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38785-1FEB-0757-FEC8-6AA1CB86C53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D94473-1718-0D76-22B7-33E82D611F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19B1E2-29EC-2F2E-B362-55E80C4D0828}"/>
              </a:ext>
            </a:extLst>
          </p:cNvPr>
          <p:cNvSpPr>
            <a:spLocks noGrp="1"/>
          </p:cNvSpPr>
          <p:nvPr>
            <p:ph type="dt" sz="half" idx="10"/>
          </p:nvPr>
        </p:nvSpPr>
        <p:spPr/>
        <p:txBody>
          <a:bodyPr/>
          <a:lstStyle/>
          <a:p>
            <a:fld id="{6B848764-2CC6-431B-B501-1DF197EE73CC}" type="datetime1">
              <a:rPr lang="en-IN" smtClean="0"/>
              <a:t>15-10-2026</a:t>
            </a:fld>
            <a:endParaRPr lang="en-IN"/>
          </a:p>
        </p:txBody>
      </p:sp>
      <p:sp>
        <p:nvSpPr>
          <p:cNvPr id="5" name="Footer Placeholder 4">
            <a:extLst>
              <a:ext uri="{FF2B5EF4-FFF2-40B4-BE49-F238E27FC236}">
                <a16:creationId xmlns:a16="http://schemas.microsoft.com/office/drawing/2014/main" id="{2B36D9E9-31F7-01F5-C19A-438C407736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EE1B4F-5C80-EFB0-BA9F-8F17B8444B0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A32412BD-D800-391F-9FB6-159E83E747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107846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C43F02-0084-480F-2BA3-75A1C0102C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B22D9D-B106-6765-76CF-C9843EC19F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A262E0-081B-BE3A-F92B-73DE583EDA72}"/>
              </a:ext>
            </a:extLst>
          </p:cNvPr>
          <p:cNvSpPr>
            <a:spLocks noGrp="1"/>
          </p:cNvSpPr>
          <p:nvPr>
            <p:ph type="dt" sz="half" idx="10"/>
          </p:nvPr>
        </p:nvSpPr>
        <p:spPr/>
        <p:txBody>
          <a:bodyPr/>
          <a:lstStyle/>
          <a:p>
            <a:fld id="{9C5EEFFA-3959-41FE-A774-B9B27FD8983C}" type="datetime1">
              <a:rPr lang="en-IN" smtClean="0"/>
              <a:t>15-10-2026</a:t>
            </a:fld>
            <a:endParaRPr lang="en-IN"/>
          </a:p>
        </p:txBody>
      </p:sp>
      <p:sp>
        <p:nvSpPr>
          <p:cNvPr id="5" name="Footer Placeholder 4">
            <a:extLst>
              <a:ext uri="{FF2B5EF4-FFF2-40B4-BE49-F238E27FC236}">
                <a16:creationId xmlns:a16="http://schemas.microsoft.com/office/drawing/2014/main" id="{2B69D4DC-613B-8105-F661-A37BB2AD0F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246AAE-21DC-2AE1-CF07-91F73A4DFA13}"/>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8354406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948038-F901-EAD1-D5DB-03603E896C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7E2A14-F9FA-9B0B-5AA7-D785E09BAF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E56813-B660-C26F-CFEF-AF22C547FC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0F4BF4-0D93-4F1E-82BB-778F1EDDD45F}" type="datetime1">
              <a:rPr lang="en-IN" smtClean="0"/>
              <a:t>15-10-2026</a:t>
            </a:fld>
            <a:endParaRPr lang="en-IN"/>
          </a:p>
        </p:txBody>
      </p:sp>
      <p:sp>
        <p:nvSpPr>
          <p:cNvPr id="5" name="Footer Placeholder 4">
            <a:extLst>
              <a:ext uri="{FF2B5EF4-FFF2-40B4-BE49-F238E27FC236}">
                <a16:creationId xmlns:a16="http://schemas.microsoft.com/office/drawing/2014/main" id="{E4B697EB-16D9-74E1-1448-0CDC280711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0C42DC9-4178-3222-F3F2-C5EC792CA7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012AB6-14AF-4351-87AD-D420B05274E1}" type="slidenum">
              <a:rPr lang="en-IN" smtClean="0"/>
              <a:t>‹#›</a:t>
            </a:fld>
            <a:endParaRPr lang="en-IN"/>
          </a:p>
        </p:txBody>
      </p:sp>
    </p:spTree>
    <p:extLst>
      <p:ext uri="{BB962C8B-B14F-4D97-AF65-F5344CB8AC3E}">
        <p14:creationId xmlns:p14="http://schemas.microsoft.com/office/powerpoint/2010/main" val="3493481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680" y="658368"/>
            <a:ext cx="10241280" cy="914400"/>
          </a:xfrm>
          <a:prstGeom prst="rect">
            <a:avLst/>
          </a:prstGeom>
          <a:noFill/>
        </p:spPr>
        <p:txBody>
          <a:bodyPr wrap="square">
            <a:spAutoFit/>
          </a:bodyPr>
          <a:lstStyle/>
          <a:p>
            <a:pPr>
              <a:spcAft>
                <a:spcPts val="800"/>
              </a:spcAft>
              <a:defRPr sz="2900" b="1">
                <a:solidFill>
                  <a:srgbClr val="0D395E"/>
                </a:solidFill>
              </a:defRPr>
            </a:pPr>
            <a:r>
              <a:t>MONTHLY EXPENSE AND BUDGET ANALYZER</a:t>
            </a:r>
          </a:p>
        </p:txBody>
      </p:sp>
      <p:sp>
        <p:nvSpPr>
          <p:cNvPr id="3" name="TextBox 2"/>
          <p:cNvSpPr txBox="1"/>
          <p:nvPr/>
        </p:nvSpPr>
        <p:spPr>
          <a:xfrm>
            <a:off x="914400" y="1874519"/>
            <a:ext cx="10058400" cy="4480560"/>
          </a:xfrm>
          <a:prstGeom prst="rect">
            <a:avLst/>
          </a:prstGeom>
          <a:noFill/>
        </p:spPr>
        <p:txBody>
          <a:bodyPr wrap="square">
            <a:spAutoFit/>
          </a:bodyPr>
          <a:lstStyle/>
          <a:p>
            <a:r>
              <a:t>Team No: 5</a:t>
            </a:r>
          </a:p>
          <a:p>
            <a:r>
              <a:t>Y. Lohith Kumar — 2620030125</a:t>
            </a:r>
          </a:p>
          <a:p>
            <a:r>
              <a:t>S. Tanay — 2620030120</a:t>
            </a:r>
          </a:p>
          <a:p>
            <a:r>
              <a:t>Annam Srivaibhav — 2620040151</a:t>
            </a:r>
          </a:p>
          <a:p/>
          <a:p>
            <a:r>
              <a:t>Problem Solving Through Programming (Java)</a:t>
            </a:r>
          </a:p>
        </p:txBody>
      </p:sp>
    </p:spTree>
    <p:extLst>
      <p:ext uri="{BB962C8B-B14F-4D97-AF65-F5344CB8AC3E}">
        <p14:creationId xmlns:p14="http://schemas.microsoft.com/office/powerpoint/2010/main" val="1570750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1AF3-F02C-0F4C-0929-57F8B753540D}"/>
              </a:ext>
            </a:extLst>
          </p:cNvPr>
          <p:cNvSpPr>
            <a:spLocks noGrp="1"/>
          </p:cNvSpPr>
          <p:nvPr>
            <p:ph type="title"/>
          </p:nvPr>
        </p:nvSpPr>
        <p:spPr/>
        <p:txBody>
          <a:bodyPr/>
          <a:lstStyle/>
          <a:p>
            <a:r>
              <a:rPr lang="en-IN" dirty="0"/>
              <a:t>Abstract</a:t>
            </a:r>
          </a:p>
        </p:txBody>
      </p:sp>
      <p:sp>
        <p:nvSpPr>
          <p:cNvPr id="4" name="TextBox 3"/>
          <p:cNvSpPr txBox="1"/>
          <p:nvPr/>
        </p:nvSpPr>
        <p:spPr>
          <a:xfrm>
            <a:off x="914400" y="1874519"/>
            <a:ext cx="10058400" cy="4480560"/>
          </a:xfrm>
          <a:prstGeom prst="rect">
            <a:avLst/>
          </a:prstGeom>
          <a:noFill/>
        </p:spPr>
        <p:txBody>
          <a:bodyPr wrap="square">
            <a:spAutoFit/>
          </a:bodyPr>
          <a:lstStyle/>
          <a:p>
            <a:pPr>
              <a:spcAft>
                <a:spcPts val="800"/>
              </a:spcAft>
              <a:defRPr sz="1900" b="0">
                <a:solidFill>
                  <a:srgbClr val="142743"/>
                </a:solidFill>
              </a:defRPr>
            </a:pPr>
            <a:r>
              <a:t>This Java console application helps users track monthly spending against a budget. Users enter a budget, then record expense names and amounts. The program adds expenses, calculates the remaining balance, and displays whether spending is within budget, exactly at the limit, or over budget. It supports up to 20 expenses.</a:t>
            </a:r>
          </a:p>
        </p:txBody>
      </p:sp>
    </p:spTree>
    <p:extLst>
      <p:ext uri="{BB962C8B-B14F-4D97-AF65-F5344CB8AC3E}">
        <p14:creationId xmlns:p14="http://schemas.microsoft.com/office/powerpoint/2010/main" val="676338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4AC2B-1702-695F-E0B5-9F6550F04B7D}"/>
              </a:ext>
            </a:extLst>
          </p:cNvPr>
          <p:cNvSpPr>
            <a:spLocks noGrp="1"/>
          </p:cNvSpPr>
          <p:nvPr>
            <p:ph type="title"/>
          </p:nvPr>
        </p:nvSpPr>
        <p:spPr/>
        <p:txBody>
          <a:bodyPr/>
          <a:lstStyle/>
          <a:p>
            <a:r>
              <a:rPr lang="en-IN" dirty="0"/>
              <a:t>Understanding Problem Statement</a:t>
            </a:r>
          </a:p>
        </p:txBody>
      </p:sp>
      <p:sp>
        <p:nvSpPr>
          <p:cNvPr id="4" name="TextBox 3"/>
          <p:cNvSpPr txBox="1"/>
          <p:nvPr/>
        </p:nvSpPr>
        <p:spPr>
          <a:xfrm>
            <a:off x="914400" y="1874519"/>
            <a:ext cx="10058400" cy="4480560"/>
          </a:xfrm>
          <a:prstGeom prst="rect">
            <a:avLst/>
          </a:prstGeom>
          <a:noFill/>
        </p:spPr>
        <p:txBody>
          <a:bodyPr wrap="square">
            <a:spAutoFit/>
          </a:bodyPr>
          <a:lstStyle/>
          <a:p>
            <a:pPr>
              <a:spcAft>
                <a:spcPts val="800"/>
              </a:spcAft>
              <a:defRPr sz="1900" b="0">
                <a:solidFill>
                  <a:srgbClr val="142743"/>
                </a:solidFill>
              </a:defRPr>
            </a:pPr>
            <a:r>
              <a:t>Problem: It can be difficult to keep track of small daily expenses and know how much money remains.</a:t>
            </a:r>
          </a:p>
          <a:p>
            <a:pPr>
              <a:spcAft>
                <a:spcPts val="800"/>
              </a:spcAft>
              <a:defRPr sz="1900" b="0">
                <a:solidFill>
                  <a:srgbClr val="142743"/>
                </a:solidFill>
              </a:defRPr>
            </a:pPr>
          </a:p>
          <a:p>
            <a:pPr>
              <a:spcAft>
                <a:spcPts val="800"/>
              </a:spcAft>
              <a:defRPr sz="1900" b="0">
                <a:solidFill>
                  <a:srgbClr val="142743"/>
                </a:solidFill>
              </a:defRPr>
            </a:pPr>
            <a:r>
              <a:t>Input: Monthly budget; each expense name and amount; yes/no to continue.</a:t>
            </a:r>
          </a:p>
          <a:p>
            <a:pPr>
              <a:spcAft>
                <a:spcPts val="800"/>
              </a:spcAft>
              <a:defRPr sz="1900" b="0">
                <a:solidFill>
                  <a:srgbClr val="142743"/>
                </a:solidFill>
              </a:defRPr>
            </a:pPr>
          </a:p>
          <a:p>
            <a:pPr>
              <a:spcAft>
                <a:spcPts val="800"/>
              </a:spcAft>
              <a:defRPr sz="1900" b="0">
                <a:solidFill>
                  <a:srgbClr val="142743"/>
                </a:solidFill>
              </a:defRPr>
            </a:pPr>
            <a:r>
              <a:t>Process: Add each expense to a running total, subtract the total from the budget, and compare the result with zero.</a:t>
            </a:r>
          </a:p>
          <a:p>
            <a:pPr>
              <a:spcAft>
                <a:spcPts val="800"/>
              </a:spcAft>
              <a:defRPr sz="1900" b="0">
                <a:solidFill>
                  <a:srgbClr val="142743"/>
                </a:solidFill>
              </a:defRPr>
            </a:pPr>
          </a:p>
          <a:p>
            <a:pPr>
              <a:spcAft>
                <a:spcPts val="800"/>
              </a:spcAft>
              <a:defRPr sz="1900" b="0">
                <a:solidFill>
                  <a:srgbClr val="142743"/>
                </a:solidFill>
              </a:defRPr>
            </a:pPr>
            <a:r>
              <a:t>Output: Budget, total expenses, money left or overspending warning.</a:t>
            </a:r>
          </a:p>
        </p:txBody>
      </p:sp>
    </p:spTree>
    <p:extLst>
      <p:ext uri="{BB962C8B-B14F-4D97-AF65-F5344CB8AC3E}">
        <p14:creationId xmlns:p14="http://schemas.microsoft.com/office/powerpoint/2010/main" val="3980090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4CC5-4FD5-611A-4481-E878E281E2CD}"/>
              </a:ext>
            </a:extLst>
          </p:cNvPr>
          <p:cNvSpPr>
            <a:spLocks noGrp="1"/>
          </p:cNvSpPr>
          <p:nvPr>
            <p:ph type="title"/>
          </p:nvPr>
        </p:nvSpPr>
        <p:spPr>
          <a:xfrm>
            <a:off x="868680" y="457200"/>
            <a:ext cx="5029200" cy="548640"/>
          </a:xfrm>
        </p:spPr>
        <p:txBody>
          <a:bodyPr wrap="none" lIns="45720" rIns="45720" anchor="ctr"/>
          <a:lstStyle/>
          <a:p>
            <a:pPr>
              <a:defRPr sz="2600"/>
            </a:pPr>
            <a:r>
              <a:t>CO 1</a:t>
            </a:r>
          </a:p>
        </p:txBody>
      </p:sp>
      <p:sp>
        <p:nvSpPr>
          <p:cNvPr id="3" name="TextBox 2"/>
          <p:cNvSpPr txBox="1"/>
          <p:nvPr/>
        </p:nvSpPr>
        <p:spPr>
          <a:xfrm>
            <a:off x="868680" y="1143000"/>
            <a:ext cx="10424160" cy="438912"/>
          </a:xfrm>
          <a:prstGeom prst="rect">
            <a:avLst/>
          </a:prstGeom>
          <a:noFill/>
        </p:spPr>
        <p:txBody>
          <a:bodyPr wrap="none" lIns="45720" rIns="45720" anchor="ctr">
            <a:spAutoFit/>
          </a:bodyPr>
          <a:lstStyle/>
          <a:p>
            <a:pPr>
              <a:defRPr sz="1800"/>
            </a:pPr>
            <a:r>
              <a:t>Problem Solving &amp; Java Basics</a:t>
            </a:r>
          </a:p>
        </p:txBody>
      </p:sp>
      <p:sp>
        <p:nvSpPr>
          <p:cNvPr id="4" name="TextBox 3"/>
          <p:cNvSpPr txBox="1"/>
          <p:nvPr/>
        </p:nvSpPr>
        <p:spPr>
          <a:xfrm>
            <a:off x="914400" y="1828800"/>
            <a:ext cx="10058400" cy="4480560"/>
          </a:xfrm>
          <a:prstGeom prst="rect">
            <a:avLst/>
          </a:prstGeom>
          <a:noFill/>
        </p:spPr>
        <p:txBody>
          <a:bodyPr wrap="square">
            <a:spAutoFit/>
          </a:bodyPr>
          <a:lstStyle/>
          <a:p>
            <a:pPr>
              <a:spcAft>
                <a:spcPts val="800"/>
              </a:spcAft>
              <a:defRPr sz="1900" b="0">
                <a:solidFill>
                  <a:srgbClr val="142743"/>
                </a:solidFill>
              </a:defRPr>
            </a:pPr>
            <a:r>
              <a:t>• Problem analysis: identify inputs, calculations, and outputs.</a:t>
            </a:r>
          </a:p>
          <a:p>
            <a:pPr>
              <a:spcAft>
                <a:spcPts val="800"/>
              </a:spcAft>
              <a:defRPr sz="1900" b="0">
                <a:solidFill>
                  <a:srgbClr val="142743"/>
                </a:solidFill>
              </a:defRPr>
            </a:pPr>
            <a:r>
              <a:t>• Algorithm: read budget → collect expenses → sum amounts → calculate balance → display report.</a:t>
            </a:r>
          </a:p>
          <a:p>
            <a:pPr>
              <a:spcAft>
                <a:spcPts val="800"/>
              </a:spcAft>
              <a:defRPr sz="1900" b="0">
                <a:solidFill>
                  <a:srgbClr val="142743"/>
                </a:solidFill>
              </a:defRPr>
            </a:pPr>
            <a:r>
              <a:t>• Scanner reads numeric and text input.</a:t>
            </a:r>
          </a:p>
          <a:p>
            <a:pPr>
              <a:spcAft>
                <a:spcPts val="800"/>
              </a:spcAft>
              <a:defRPr sz="1900" b="0">
                <a:solidFill>
                  <a:srgbClr val="142743"/>
                </a:solidFill>
              </a:defRPr>
            </a:pPr>
            <a:r>
              <a:t>• Variables: double money, total, expense, balance; String item, answer.</a:t>
            </a:r>
          </a:p>
          <a:p>
            <a:pPr>
              <a:spcAft>
                <a:spcPts val="800"/>
              </a:spcAft>
              <a:defRPr sz="1900" b="0">
                <a:solidFill>
                  <a:srgbClr val="142743"/>
                </a:solidFill>
              </a:defRPr>
            </a:pPr>
            <a:r>
              <a:t>• Arithmetic: total = total + expense; balance = money - total.</a:t>
            </a:r>
          </a:p>
        </p:txBody>
      </p:sp>
    </p:spTree>
    <p:extLst>
      <p:ext uri="{BB962C8B-B14F-4D97-AF65-F5344CB8AC3E}">
        <p14:creationId xmlns:p14="http://schemas.microsoft.com/office/powerpoint/2010/main" val="4104242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4FDF4-A21D-11D6-CA7A-382058E2F499}"/>
              </a:ext>
            </a:extLst>
          </p:cNvPr>
          <p:cNvSpPr>
            <a:spLocks noGrp="1"/>
          </p:cNvSpPr>
          <p:nvPr>
            <p:ph type="title"/>
          </p:nvPr>
        </p:nvSpPr>
        <p:spPr>
          <a:xfrm>
            <a:off x="868680" y="457200"/>
            <a:ext cx="5029200" cy="548640"/>
          </a:xfrm>
        </p:spPr>
        <p:txBody>
          <a:bodyPr wrap="none" lIns="45720" rIns="45720" anchor="ctr"/>
          <a:lstStyle/>
          <a:p>
            <a:pPr>
              <a:defRPr sz="2600"/>
            </a:pPr>
            <a:r>
              <a:t>CO 2</a:t>
            </a:r>
          </a:p>
        </p:txBody>
      </p:sp>
      <p:sp>
        <p:nvSpPr>
          <p:cNvPr id="3" name="TextBox 2"/>
          <p:cNvSpPr txBox="1"/>
          <p:nvPr/>
        </p:nvSpPr>
        <p:spPr>
          <a:xfrm>
            <a:off x="868680" y="1143000"/>
            <a:ext cx="10424160" cy="438912"/>
          </a:xfrm>
          <a:prstGeom prst="rect">
            <a:avLst/>
          </a:prstGeom>
          <a:noFill/>
        </p:spPr>
        <p:txBody>
          <a:bodyPr wrap="none" lIns="45720" rIns="45720" anchor="ctr">
            <a:spAutoFit/>
          </a:bodyPr>
          <a:lstStyle/>
          <a:p>
            <a:pPr>
              <a:defRPr sz="1800"/>
            </a:pPr>
            <a:r>
              <a:t>Control Flow</a:t>
            </a:r>
          </a:p>
        </p:txBody>
      </p:sp>
      <p:sp>
        <p:nvSpPr>
          <p:cNvPr id="4" name="TextBox 3"/>
          <p:cNvSpPr txBox="1"/>
          <p:nvPr/>
        </p:nvSpPr>
        <p:spPr>
          <a:xfrm>
            <a:off x="914400" y="1828800"/>
            <a:ext cx="10058400" cy="4480560"/>
          </a:xfrm>
          <a:prstGeom prst="rect">
            <a:avLst/>
          </a:prstGeom>
          <a:noFill/>
        </p:spPr>
        <p:txBody>
          <a:bodyPr wrap="square">
            <a:spAutoFit/>
          </a:bodyPr>
          <a:lstStyle/>
          <a:p>
            <a:pPr>
              <a:spcAft>
                <a:spcPts val="800"/>
              </a:spcAft>
              <a:defRPr sz="1900" b="0">
                <a:solidFill>
                  <a:srgbClr val="142743"/>
                </a:solidFill>
              </a:defRPr>
            </a:pPr>
            <a:r>
              <a:t>• for loop repeats expense entry up to 20 times.</a:t>
            </a:r>
          </a:p>
          <a:p>
            <a:pPr>
              <a:spcAft>
                <a:spcPts val="800"/>
              </a:spcAft>
              <a:defRPr sz="1900" b="0">
                <a:solidFill>
                  <a:srgbClr val="142743"/>
                </a:solidFill>
              </a:defRPr>
            </a:pPr>
            <a:r>
              <a:t>• if (i &lt; 20) asks whether to continue.</a:t>
            </a:r>
          </a:p>
          <a:p>
            <a:pPr>
              <a:spcAft>
                <a:spcPts val="800"/>
              </a:spcAft>
              <a:defRPr sz="1900" b="0">
                <a:solidFill>
                  <a:srgbClr val="142743"/>
                </a:solidFill>
              </a:defRPr>
            </a:pPr>
            <a:r>
              <a:t>• equalsIgnoreCase("no") checks the user response.</a:t>
            </a:r>
          </a:p>
          <a:p>
            <a:pPr>
              <a:spcAft>
                <a:spcPts val="800"/>
              </a:spcAft>
              <a:defRPr sz="1900" b="0">
                <a:solidFill>
                  <a:srgbClr val="142743"/>
                </a:solidFill>
              </a:defRPr>
            </a:pPr>
            <a:r>
              <a:t>• break stops the loop when the user chooses no.</a:t>
            </a:r>
          </a:p>
          <a:p>
            <a:pPr>
              <a:spcAft>
                <a:spcPts val="800"/>
              </a:spcAft>
              <a:defRPr sz="1900" b="0">
                <a:solidFill>
                  <a:srgbClr val="142743"/>
                </a:solidFill>
              </a:defRPr>
            </a:pPr>
            <a:r>
              <a:t>• if / else if / else classifies balance as positive, zero, or negative.</a:t>
            </a:r>
          </a:p>
        </p:txBody>
      </p:sp>
    </p:spTree>
    <p:extLst>
      <p:ext uri="{BB962C8B-B14F-4D97-AF65-F5344CB8AC3E}">
        <p14:creationId xmlns:p14="http://schemas.microsoft.com/office/powerpoint/2010/main" val="4178111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DDFB-DFEC-7A21-D889-17965A225820}"/>
              </a:ext>
            </a:extLst>
          </p:cNvPr>
          <p:cNvSpPr>
            <a:spLocks noGrp="1"/>
          </p:cNvSpPr>
          <p:nvPr>
            <p:ph type="title"/>
          </p:nvPr>
        </p:nvSpPr>
        <p:spPr>
          <a:xfrm>
            <a:off x="868680" y="457200"/>
            <a:ext cx="5029200" cy="548640"/>
          </a:xfrm>
        </p:spPr>
        <p:txBody>
          <a:bodyPr wrap="none" lIns="45720" rIns="45720" anchor="ctr"/>
          <a:lstStyle/>
          <a:p>
            <a:pPr>
              <a:defRPr sz="2600"/>
            </a:pPr>
            <a:r>
              <a:t>CO 3</a:t>
            </a:r>
          </a:p>
        </p:txBody>
      </p:sp>
      <p:sp>
        <p:nvSpPr>
          <p:cNvPr id="3" name="TextBox 2"/>
          <p:cNvSpPr txBox="1"/>
          <p:nvPr/>
        </p:nvSpPr>
        <p:spPr>
          <a:xfrm>
            <a:off x="868680" y="1143000"/>
            <a:ext cx="10424160" cy="438912"/>
          </a:xfrm>
          <a:prstGeom prst="rect">
            <a:avLst/>
          </a:prstGeom>
          <a:noFill/>
        </p:spPr>
        <p:txBody>
          <a:bodyPr wrap="none" lIns="45720" rIns="45720" anchor="ctr">
            <a:spAutoFit/>
          </a:bodyPr>
          <a:lstStyle/>
          <a:p>
            <a:pPr>
              <a:defRPr sz="1800"/>
            </a:pPr>
            <a:r>
              <a:t>Methods &amp; Arrays</a:t>
            </a:r>
          </a:p>
        </p:txBody>
      </p:sp>
      <p:sp>
        <p:nvSpPr>
          <p:cNvPr id="4" name="TextBox 3"/>
          <p:cNvSpPr txBox="1"/>
          <p:nvPr/>
        </p:nvSpPr>
        <p:spPr>
          <a:xfrm>
            <a:off x="914400" y="1828800"/>
            <a:ext cx="10058400" cy="4480560"/>
          </a:xfrm>
          <a:prstGeom prst="rect">
            <a:avLst/>
          </a:prstGeom>
          <a:noFill/>
        </p:spPr>
        <p:txBody>
          <a:bodyPr wrap="square">
            <a:spAutoFit/>
          </a:bodyPr>
          <a:lstStyle/>
          <a:p>
            <a:pPr>
              <a:spcAft>
                <a:spcPts val="800"/>
              </a:spcAft>
              <a:defRPr sz="1900" b="0">
                <a:solidFill>
                  <a:srgbClr val="142743"/>
                </a:solidFill>
              </a:defRPr>
            </a:pPr>
            <a:r>
              <a:t>• This version performs calculations inside main().</a:t>
            </a:r>
          </a:p>
          <a:p>
            <a:pPr>
              <a:spcAft>
                <a:spcPts val="800"/>
              </a:spcAft>
              <a:defRPr sz="1900" b="0">
                <a:solidFill>
                  <a:srgbClr val="142743"/>
                </a:solidFill>
              </a:defRPr>
            </a:pPr>
            <a:r>
              <a:t>• No user-defined methods or arrays are implemented in the supplied money.java.</a:t>
            </a:r>
          </a:p>
          <a:p>
            <a:pPr>
              <a:spcAft>
                <a:spcPts val="800"/>
              </a:spcAft>
              <a:defRPr sz="1900" b="0">
                <a:solidFill>
                  <a:srgbClr val="142743"/>
                </a:solidFill>
              </a:defRPr>
            </a:pPr>
            <a:r>
              <a:t>• Possible extension: calculateBalance(budget, total) method.</a:t>
            </a:r>
          </a:p>
          <a:p>
            <a:pPr>
              <a:spcAft>
                <a:spcPts val="800"/>
              </a:spcAft>
              <a:defRPr sz="1900" b="0">
                <a:solidFill>
                  <a:srgbClr val="142743"/>
                </a:solidFill>
              </a:defRPr>
            </a:pPr>
            <a:r>
              <a:t>• Possible extension: arrays to store expense names and amounts for item-wise reporting.</a:t>
            </a:r>
          </a:p>
          <a:p>
            <a:pPr>
              <a:spcAft>
                <a:spcPts val="800"/>
              </a:spcAft>
              <a:defRPr sz="1900" b="0">
                <a:solidFill>
                  <a:srgbClr val="142743"/>
                </a:solidFill>
              </a:defRPr>
            </a:pPr>
            <a:r>
              <a:t>• These are proposed improvements, not existing features.</a:t>
            </a:r>
          </a:p>
        </p:txBody>
      </p:sp>
    </p:spTree>
    <p:extLst>
      <p:ext uri="{BB962C8B-B14F-4D97-AF65-F5344CB8AC3E}">
        <p14:creationId xmlns:p14="http://schemas.microsoft.com/office/powerpoint/2010/main" val="1869875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E591A-E528-51A2-6477-BF5075B32601}"/>
              </a:ext>
            </a:extLst>
          </p:cNvPr>
          <p:cNvSpPr>
            <a:spLocks noGrp="1"/>
          </p:cNvSpPr>
          <p:nvPr>
            <p:ph type="title"/>
          </p:nvPr>
        </p:nvSpPr>
        <p:spPr>
          <a:xfrm>
            <a:off x="868680" y="457200"/>
            <a:ext cx="5029200" cy="548640"/>
          </a:xfrm>
        </p:spPr>
        <p:txBody>
          <a:bodyPr wrap="none" lIns="45720" rIns="45720" anchor="ctr"/>
          <a:lstStyle/>
          <a:p>
            <a:pPr>
              <a:defRPr sz="2600"/>
            </a:pPr>
            <a:r>
              <a:t>CO 4</a:t>
            </a:r>
          </a:p>
        </p:txBody>
      </p:sp>
      <p:sp>
        <p:nvSpPr>
          <p:cNvPr id="3" name="TextBox 2"/>
          <p:cNvSpPr txBox="1"/>
          <p:nvPr/>
        </p:nvSpPr>
        <p:spPr>
          <a:xfrm>
            <a:off x="868680" y="1143000"/>
            <a:ext cx="10424160" cy="438912"/>
          </a:xfrm>
          <a:prstGeom prst="rect">
            <a:avLst/>
          </a:prstGeom>
          <a:noFill/>
        </p:spPr>
        <p:txBody>
          <a:bodyPr wrap="none" lIns="45720" rIns="45720" anchor="ctr">
            <a:spAutoFit/>
          </a:bodyPr>
          <a:lstStyle/>
          <a:p>
            <a:pPr>
              <a:defRPr sz="1800"/>
            </a:pPr>
            <a:r>
              <a:t>Object-Oriented Programming</a:t>
            </a:r>
          </a:p>
        </p:txBody>
      </p:sp>
      <p:sp>
        <p:nvSpPr>
          <p:cNvPr id="4" name="TextBox 3"/>
          <p:cNvSpPr txBox="1"/>
          <p:nvPr/>
        </p:nvSpPr>
        <p:spPr>
          <a:xfrm>
            <a:off x="914400" y="1828800"/>
            <a:ext cx="10058400" cy="4480560"/>
          </a:xfrm>
          <a:prstGeom prst="rect">
            <a:avLst/>
          </a:prstGeom>
          <a:noFill/>
        </p:spPr>
        <p:txBody>
          <a:bodyPr wrap="square">
            <a:spAutoFit/>
          </a:bodyPr>
          <a:lstStyle/>
          <a:p>
            <a:pPr>
              <a:spcAft>
                <a:spcPts val="800"/>
              </a:spcAft>
              <a:defRPr sz="1900" b="0">
                <a:solidFill>
                  <a:srgbClr val="142743"/>
                </a:solidFill>
              </a:defRPr>
            </a:pPr>
            <a:r>
              <a:t>• The supplied program uses the money class with a main() method.</a:t>
            </a:r>
          </a:p>
          <a:p>
            <a:pPr>
              <a:spcAft>
                <a:spcPts val="800"/>
              </a:spcAft>
              <a:defRPr sz="1900" b="0">
                <a:solidFill>
                  <a:srgbClr val="142743"/>
                </a:solidFill>
              </a:defRPr>
            </a:pPr>
            <a:r>
              <a:t>• Scanner is instantiated as an object to read keyboard input.</a:t>
            </a:r>
          </a:p>
          <a:p>
            <a:pPr>
              <a:spcAft>
                <a:spcPts val="800"/>
              </a:spcAft>
              <a:defRPr sz="1900" b="0">
                <a:solidFill>
                  <a:srgbClr val="142743"/>
                </a:solidFill>
              </a:defRPr>
            </a:pPr>
            <a:r>
              <a:t>• The current version does not define custom constructors or expense objects.</a:t>
            </a:r>
          </a:p>
          <a:p>
            <a:pPr>
              <a:spcAft>
                <a:spcPts val="800"/>
              </a:spcAft>
              <a:defRPr sz="1900" b="0">
                <a:solidFill>
                  <a:srgbClr val="142743"/>
                </a:solidFill>
              </a:defRPr>
            </a:pPr>
            <a:r>
              <a:t>• Future enhancement: Expense class with item name and amount; constructor to initialize values.</a:t>
            </a:r>
          </a:p>
        </p:txBody>
      </p:sp>
    </p:spTree>
    <p:extLst>
      <p:ext uri="{BB962C8B-B14F-4D97-AF65-F5344CB8AC3E}">
        <p14:creationId xmlns:p14="http://schemas.microsoft.com/office/powerpoint/2010/main" val="2034974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4DDC3-4D1F-21CF-55F4-04AC539E2B86}"/>
              </a:ext>
            </a:extLst>
          </p:cNvPr>
          <p:cNvSpPr>
            <a:spLocks noGrp="1"/>
          </p:cNvSpPr>
          <p:nvPr>
            <p:ph type="title"/>
          </p:nvPr>
        </p:nvSpPr>
        <p:spPr>
          <a:xfrm>
            <a:off x="868680" y="457200"/>
            <a:ext cx="5029200" cy="548640"/>
          </a:xfrm>
        </p:spPr>
        <p:txBody>
          <a:bodyPr wrap="none" lIns="45720" rIns="45720" anchor="ctr"/>
          <a:lstStyle/>
          <a:p>
            <a:pPr>
              <a:defRPr sz="2600"/>
            </a:pPr>
            <a:r>
              <a:t>CO 5</a:t>
            </a:r>
          </a:p>
        </p:txBody>
      </p:sp>
      <p:sp>
        <p:nvSpPr>
          <p:cNvPr id="3" name="TextBox 2"/>
          <p:cNvSpPr txBox="1"/>
          <p:nvPr/>
        </p:nvSpPr>
        <p:spPr>
          <a:xfrm>
            <a:off x="868680" y="1143000"/>
            <a:ext cx="10424160" cy="438912"/>
          </a:xfrm>
          <a:prstGeom prst="rect">
            <a:avLst/>
          </a:prstGeom>
          <a:noFill/>
        </p:spPr>
        <p:txBody>
          <a:bodyPr wrap="none" lIns="45720" rIns="45720" anchor="ctr">
            <a:spAutoFit/>
          </a:bodyPr>
          <a:lstStyle/>
          <a:p>
            <a:pPr>
              <a:defRPr sz="1800"/>
            </a:pPr>
            <a:r>
              <a:t>Strings</a:t>
            </a:r>
          </a:p>
        </p:txBody>
      </p:sp>
      <p:sp>
        <p:nvSpPr>
          <p:cNvPr id="4" name="TextBox 3"/>
          <p:cNvSpPr txBox="1"/>
          <p:nvPr/>
        </p:nvSpPr>
        <p:spPr>
          <a:xfrm>
            <a:off x="914400" y="1828800"/>
            <a:ext cx="10058400" cy="4480560"/>
          </a:xfrm>
          <a:prstGeom prst="rect">
            <a:avLst/>
          </a:prstGeom>
          <a:noFill/>
        </p:spPr>
        <p:txBody>
          <a:bodyPr wrap="square">
            <a:spAutoFit/>
          </a:bodyPr>
          <a:lstStyle/>
          <a:p>
            <a:pPr>
              <a:spcAft>
                <a:spcPts val="800"/>
              </a:spcAft>
              <a:defRPr sz="1900" b="0">
                <a:solidFill>
                  <a:srgbClr val="142743"/>
                </a:solidFill>
              </a:defRPr>
            </a:pPr>
            <a:r>
              <a:t>• String item stores what the user spent money on.</a:t>
            </a:r>
          </a:p>
          <a:p>
            <a:pPr>
              <a:spcAft>
                <a:spcPts val="800"/>
              </a:spcAft>
              <a:defRPr sz="1900" b="0">
                <a:solidFill>
                  <a:srgbClr val="142743"/>
                </a:solidFill>
              </a:defRPr>
            </a:pPr>
            <a:r>
              <a:t>• String answer stores yes/no input.</a:t>
            </a:r>
          </a:p>
          <a:p>
            <a:pPr>
              <a:spcAft>
                <a:spcPts val="800"/>
              </a:spcAft>
              <a:defRPr sz="1900" b="0">
                <a:solidFill>
                  <a:srgbClr val="142743"/>
                </a:solidFill>
              </a:defRPr>
            </a:pPr>
            <a:r>
              <a:t>• nextLine() reads the text.</a:t>
            </a:r>
          </a:p>
          <a:p>
            <a:pPr>
              <a:spcAft>
                <a:spcPts val="800"/>
              </a:spcAft>
              <a:defRPr sz="1900" b="0">
                <a:solidFill>
                  <a:srgbClr val="142743"/>
                </a:solidFill>
              </a:defRPr>
            </a:pPr>
            <a:r>
              <a:t>• equalsIgnoreCase("no") accepts NO, No, or no.</a:t>
            </a:r>
          </a:p>
          <a:p>
            <a:pPr>
              <a:spcAft>
                <a:spcPts val="800"/>
              </a:spcAft>
              <a:defRPr sz="1900" b="0">
                <a:solidFill>
                  <a:srgbClr val="142743"/>
                </a:solidFill>
              </a:defRPr>
            </a:pPr>
            <a:r>
              <a:t>• This makes the stop command case-insensitive.</a:t>
            </a:r>
          </a:p>
        </p:txBody>
      </p:sp>
    </p:spTree>
    <p:extLst>
      <p:ext uri="{BB962C8B-B14F-4D97-AF65-F5344CB8AC3E}">
        <p14:creationId xmlns:p14="http://schemas.microsoft.com/office/powerpoint/2010/main" val="2377368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7C36F-68C1-38D5-BFA7-072938C7FF01}"/>
              </a:ext>
            </a:extLst>
          </p:cNvPr>
          <p:cNvSpPr>
            <a:spLocks noGrp="1"/>
          </p:cNvSpPr>
          <p:nvPr>
            <p:ph type="title"/>
          </p:nvPr>
        </p:nvSpPr>
        <p:spPr>
          <a:xfrm>
            <a:off x="868680" y="457200"/>
            <a:ext cx="5029200" cy="548640"/>
          </a:xfrm>
        </p:spPr>
        <p:txBody>
          <a:bodyPr wrap="none" lIns="45720" rIns="45720" anchor="ctr"/>
          <a:lstStyle/>
          <a:p>
            <a:pPr>
              <a:defRPr sz="2600"/>
            </a:pPr>
            <a:r>
              <a:t>CO 6</a:t>
            </a:r>
          </a:p>
        </p:txBody>
      </p:sp>
      <p:sp>
        <p:nvSpPr>
          <p:cNvPr id="3" name="TextBox 2"/>
          <p:cNvSpPr txBox="1"/>
          <p:nvPr/>
        </p:nvSpPr>
        <p:spPr>
          <a:xfrm>
            <a:off x="868680" y="1143000"/>
            <a:ext cx="10424160" cy="438912"/>
          </a:xfrm>
          <a:prstGeom prst="rect">
            <a:avLst/>
          </a:prstGeom>
          <a:noFill/>
        </p:spPr>
        <p:txBody>
          <a:bodyPr wrap="none" lIns="45720" rIns="45720" anchor="ctr">
            <a:spAutoFit/>
          </a:bodyPr>
          <a:lstStyle/>
          <a:p>
            <a:pPr>
              <a:defRPr sz="1800"/>
            </a:pPr>
            <a:r>
              <a:t>Program Reliability &amp; Future Scope</a:t>
            </a:r>
          </a:p>
        </p:txBody>
      </p:sp>
      <p:sp>
        <p:nvSpPr>
          <p:cNvPr id="4" name="TextBox 3"/>
          <p:cNvSpPr txBox="1"/>
          <p:nvPr/>
        </p:nvSpPr>
        <p:spPr>
          <a:xfrm>
            <a:off x="914400" y="1828800"/>
            <a:ext cx="10058400" cy="4480560"/>
          </a:xfrm>
          <a:prstGeom prst="rect">
            <a:avLst/>
          </a:prstGeom>
          <a:noFill/>
        </p:spPr>
        <p:txBody>
          <a:bodyPr wrap="square">
            <a:spAutoFit/>
          </a:bodyPr>
          <a:lstStyle/>
          <a:p>
            <a:pPr>
              <a:spcAft>
                <a:spcPts val="800"/>
              </a:spcAft>
              <a:defRPr sz="1900" b="0">
                <a:solidFill>
                  <a:srgbClr val="142743"/>
                </a:solidFill>
              </a:defRPr>
            </a:pPr>
            <a:r>
              <a:t>• Current code closes the Scanner after reporting.</a:t>
            </a:r>
          </a:p>
          <a:p>
            <a:pPr>
              <a:spcAft>
                <a:spcPts val="800"/>
              </a:spcAft>
              <a:defRPr sz="1900" b="0">
                <a:solidFill>
                  <a:srgbClr val="142743"/>
                </a:solidFill>
              </a:defRPr>
            </a:pPr>
            <a:r>
              <a:t>• Current code does not use try-catch exception handling.</a:t>
            </a:r>
          </a:p>
          <a:p>
            <a:pPr>
              <a:spcAft>
                <a:spcPts val="800"/>
              </a:spcAft>
              <a:defRPr sz="1900" b="0">
                <a:solidFill>
                  <a:srgbClr val="142743"/>
                </a:solidFill>
              </a:defRPr>
            </a:pPr>
            <a:r>
              <a:t>• Proposed: reject negative budgets and expense amounts.</a:t>
            </a:r>
          </a:p>
          <a:p>
            <a:pPr>
              <a:spcAft>
                <a:spcPts val="800"/>
              </a:spcAft>
              <a:defRPr sz="1900" b="0">
                <a:solidFill>
                  <a:srgbClr val="142743"/>
                </a:solidFill>
              </a:defRPr>
            </a:pPr>
            <a:r>
              <a:t>• Proposed: handle invalid numeric input with try-catch.</a:t>
            </a:r>
          </a:p>
          <a:p>
            <a:pPr>
              <a:spcAft>
                <a:spcPts val="800"/>
              </a:spcAft>
              <a:defRPr sz="1900" b="0">
                <a:solidFill>
                  <a:srgbClr val="142743"/>
                </a:solidFill>
              </a:defRPr>
            </a:pPr>
            <a:r>
              <a:t>• Proposed: save expenses to a file/database and add category summaries.</a:t>
            </a:r>
          </a:p>
        </p:txBody>
      </p:sp>
    </p:spTree>
    <p:extLst>
      <p:ext uri="{BB962C8B-B14F-4D97-AF65-F5344CB8AC3E}">
        <p14:creationId xmlns:p14="http://schemas.microsoft.com/office/powerpoint/2010/main" val="707117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AD3A7-F925-7472-F39D-15B33FC20F53}"/>
              </a:ext>
            </a:extLst>
          </p:cNvPr>
          <p:cNvSpPr>
            <a:spLocks noGrp="1"/>
          </p:cNvSpPr>
          <p:nvPr>
            <p:ph type="title"/>
          </p:nvPr>
        </p:nvSpPr>
        <p:spPr/>
        <p:txBody>
          <a:bodyPr/>
          <a:lstStyle/>
          <a:p>
            <a:r>
              <a:rPr lang="en-IN" dirty="0"/>
              <a:t>Conclusion</a:t>
            </a:r>
          </a:p>
        </p:txBody>
      </p:sp>
      <p:sp>
        <p:nvSpPr>
          <p:cNvPr id="4" name="TextBox 3"/>
          <p:cNvSpPr txBox="1"/>
          <p:nvPr/>
        </p:nvSpPr>
        <p:spPr>
          <a:xfrm>
            <a:off x="914400" y="1874519"/>
            <a:ext cx="10058400" cy="4480560"/>
          </a:xfrm>
          <a:prstGeom prst="rect">
            <a:avLst/>
          </a:prstGeom>
          <a:noFill/>
        </p:spPr>
        <p:txBody>
          <a:bodyPr wrap="square">
            <a:spAutoFit/>
          </a:bodyPr>
          <a:lstStyle/>
          <a:p>
            <a:pPr>
              <a:spcAft>
                <a:spcPts val="800"/>
              </a:spcAft>
              <a:defRPr sz="1900" b="0">
                <a:solidFill>
                  <a:srgbClr val="142743"/>
                </a:solidFill>
              </a:defRPr>
            </a:pPr>
            <a:r>
              <a:t>The Monthly Expense and Budget Analyzer demonstrates Java input handling, variables, arithmetic, loops, conditional statements, and strings in a practical personal-finance task. It calculates total spending and tells users whether they are within budget or have exceeded it. Future versions can save records and produce more detailed reports.</a:t>
            </a:r>
          </a:p>
        </p:txBody>
      </p:sp>
    </p:spTree>
    <p:extLst>
      <p:ext uri="{BB962C8B-B14F-4D97-AF65-F5344CB8AC3E}">
        <p14:creationId xmlns:p14="http://schemas.microsoft.com/office/powerpoint/2010/main" val="1744964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77661-8074-79B2-B035-E36DFB30941A}"/>
              </a:ext>
            </a:extLst>
          </p:cNvPr>
          <p:cNvSpPr>
            <a:spLocks noGrp="1"/>
          </p:cNvSpPr>
          <p:nvPr>
            <p:ph type="title"/>
          </p:nvPr>
        </p:nvSpPr>
        <p:spPr/>
        <p:txBody>
          <a:bodyPr/>
          <a:lstStyle/>
          <a:p>
            <a:r>
              <a:rPr lang="en-IN"/>
              <a:t>Screen Shots</a:t>
            </a:r>
            <a:endParaRPr lang="en-IN" dirty="0"/>
          </a:p>
        </p:txBody>
      </p:sp>
      <p:pic>
        <p:nvPicPr>
          <p:cNvPr id="3" name="Picture 2" descr="Monthly Expense and Budget Analyzer Poster.png"/>
          <p:cNvPicPr>
            <a:picLocks noChangeAspect="1"/>
          </p:cNvPicPr>
          <p:nvPr/>
        </p:nvPicPr>
        <p:blipFill>
          <a:blip r:embed="rId2"/>
          <a:stretch>
            <a:fillRect/>
          </a:stretch>
        </p:blipFill>
        <p:spPr>
          <a:xfrm>
            <a:off x="3749039" y="1600200"/>
            <a:ext cx="3169920" cy="4754880"/>
          </a:xfrm>
          <a:prstGeom prst="rect">
            <a:avLst/>
          </a:prstGeom>
        </p:spPr>
      </p:pic>
    </p:spTree>
    <p:extLst>
      <p:ext uri="{BB962C8B-B14F-4D97-AF65-F5344CB8AC3E}">
        <p14:creationId xmlns:p14="http://schemas.microsoft.com/office/powerpoint/2010/main" val="2015298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EF2EB-DC8E-A39F-8C45-4CB81854799A}"/>
              </a:ext>
            </a:extLst>
          </p:cNvPr>
          <p:cNvSpPr>
            <a:spLocks noGrp="1"/>
          </p:cNvSpPr>
          <p:nvPr>
            <p:ph type="title"/>
          </p:nvPr>
        </p:nvSpPr>
        <p:spPr>
          <a:xfrm>
            <a:off x="868680" y="502920"/>
            <a:ext cx="10332720" cy="594360"/>
          </a:xfrm>
        </p:spPr>
        <p:txBody>
          <a:bodyPr wrap="none" anchor="ctr" lIns="45720" rIns="45720"/>
          <a:lstStyle/>
          <a:p>
            <a:pPr>
              <a:defRPr sz="2400"/>
            </a:pPr>
            <a:r>
              <a:rPr lang="en-IN" dirty="0"/>
              <a:t>Geo Tag Photo and git hub link</a:t>
            </a:r>
          </a:p>
        </p:txBody>
      </p:sp>
      <p:pic>
        <p:nvPicPr>
          <p:cNvPr id="3" name="Picture 2" descr="team_photo_upright.jpg"/>
          <p:cNvPicPr>
            <a:picLocks noChangeAspect="1"/>
          </p:cNvPicPr>
          <p:nvPr/>
        </p:nvPicPr>
        <p:blipFill>
          <a:blip r:embed="rId2"/>
          <a:stretch>
            <a:fillRect/>
          </a:stretch>
        </p:blipFill>
        <p:spPr>
          <a:xfrm>
            <a:off x="2743200" y="1234440"/>
            <a:ext cx="6702552" cy="5029200"/>
          </a:xfrm>
          <a:prstGeom prst="rect">
            <a:avLst/>
          </a:prstGeom>
        </p:spPr>
      </p:pic>
      <p:sp>
        <p:nvSpPr>
          <p:cNvPr id="4" name="TextBox 3"/>
          <p:cNvSpPr txBox="1"/>
          <p:nvPr/>
        </p:nvSpPr>
        <p:spPr>
          <a:xfrm>
            <a:off x="914400" y="6327648"/>
            <a:ext cx="10058400" cy="274320"/>
          </a:xfrm>
          <a:prstGeom prst="rect">
            <a:avLst/>
          </a:prstGeom>
          <a:noFill/>
        </p:spPr>
        <p:txBody>
          <a:bodyPr wrap="none">
            <a:spAutoFit/>
          </a:bodyPr>
          <a:lstStyle/>
          <a:p>
            <a:pPr algn="ctr">
              <a:defRPr sz="1200"/>
            </a:pPr>
            <a:r>
              <a:t>GitHub Repository: Add your verified link before submission</a:t>
            </a:r>
          </a:p>
        </p:txBody>
      </p:sp>
    </p:spTree>
    <p:extLst>
      <p:ext uri="{BB962C8B-B14F-4D97-AF65-F5344CB8AC3E}">
        <p14:creationId xmlns:p14="http://schemas.microsoft.com/office/powerpoint/2010/main" val="1396777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75</Words>
  <Application>Microsoft Office PowerPoint</Application>
  <PresentationFormat>Widescreen</PresentationFormat>
  <Paragraphs>39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Title of the Project Team No</vt:lpstr>
      <vt:lpstr>Abstract</vt:lpstr>
      <vt:lpstr>Understanding Problem Statement</vt:lpstr>
      <vt:lpstr>CO 1 Topics</vt:lpstr>
      <vt:lpstr>Co 2 TOPICS</vt:lpstr>
      <vt:lpstr>CO 3 Topics</vt:lpstr>
      <vt:lpstr>CO 4</vt:lpstr>
      <vt:lpstr>CO 5</vt:lpstr>
      <vt:lpstr>CO 6</vt:lpstr>
      <vt:lpstr>Conclusion</vt:lpstr>
      <vt:lpstr>Screen Shots</vt:lpstr>
      <vt:lpstr>Geo Tag Photo and git hub link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TSP MADHURI</dc:creator>
  <cp:lastModifiedBy>TSP MADHURI</cp:lastModifiedBy>
  <cp:revision>2</cp:revision>
  <dcterms:created xsi:type="dcterms:W3CDTF">2026-09-15T09:57:10Z</dcterms:created>
  <dcterms:modified xsi:type="dcterms:W3CDTF">2026-10-15T08:03:08Z</dcterms:modified>
</cp:coreProperties>
</file>